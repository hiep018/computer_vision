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2" r:id="rId14"/>
    <p:sldId id="271" r:id="rId15"/>
    <p:sldId id="273" r:id="rId16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Open Sans 1" panose="020B0604020202020204" charset="0"/>
      <p:regular r:id="rId18"/>
    </p:embeddedFont>
    <p:embeddedFont>
      <p:font typeface="Public Sans Bold" panose="020B0604020202020204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4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620631" y="2096623"/>
            <a:ext cx="7981895" cy="8190377"/>
          </a:xfrm>
          <a:custGeom>
            <a:avLst/>
            <a:gdLst/>
            <a:ahLst/>
            <a:cxnLst/>
            <a:rect l="l" t="t" r="r" b="b"/>
            <a:pathLst>
              <a:path w="7981895" h="8190377">
                <a:moveTo>
                  <a:pt x="7981895" y="0"/>
                </a:moveTo>
                <a:lnTo>
                  <a:pt x="0" y="0"/>
                </a:lnTo>
                <a:lnTo>
                  <a:pt x="0" y="8190377"/>
                </a:lnTo>
                <a:lnTo>
                  <a:pt x="7981895" y="8190377"/>
                </a:lnTo>
                <a:lnTo>
                  <a:pt x="798189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13794" y="3632980"/>
            <a:ext cx="5937729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75"/>
              </a:lnSpc>
            </a:pPr>
            <a:r>
              <a:rPr lang="en-US" sz="7730" b="1" spc="278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NHÓM 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3794" y="4986337"/>
            <a:ext cx="11277488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1" spc="48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ANTI DEEPFAKE (FACE)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8373898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90529"/>
            <a:ext cx="4370705" cy="831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62979" y="95250"/>
            <a:ext cx="8936316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216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THÀNH VIÊN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54" y="429831"/>
            <a:ext cx="4370705" cy="831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34779"/>
            <a:ext cx="15925800" cy="8963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19100"/>
            <a:ext cx="4370705" cy="831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6754" y="1281165"/>
            <a:ext cx="1052942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216" dirty="0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BỐI CẢNH VÀ ĐỘNG LỰC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9200" y="2705100"/>
            <a:ext cx="1051560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500" kern="0" dirty="0">
                <a:latin typeface="Times New Roman" panose="02020603050405020304" pitchFamily="18" charset="0"/>
              </a:rPr>
              <a:t>Sự phát triển của các kỹ thuật sinh ảnh/video dựa trên học sâu — đặc biệt là Generative Adversarial Networks (GANs) và Autoencoder — đã tạo ra khả năng giả mạo khuôn mặt người với độ chân thực ngày càng cao và chi phí ngày càng thấp</a:t>
            </a:r>
            <a:r>
              <a:rPr lang="en-US" sz="3500" kern="0" dirty="0">
                <a:latin typeface="Times New Roman" panose="02020603050405020304" pitchFamily="18" charset="0"/>
              </a:rPr>
              <a:t>. </a:t>
            </a:r>
            <a:r>
              <a:rPr lang="en-US" sz="35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hính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thách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3" y="301447"/>
            <a:ext cx="4370705" cy="83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88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6754" y="1196338"/>
            <a:ext cx="1052942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216" dirty="0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MỤC TIÊU DỰ ÁN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9200" y="2705100"/>
            <a:ext cx="10515600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500" dirty="0">
                <a:latin typeface="+mj-lt"/>
              </a:rPr>
              <a:t>Xây dựng pipeline phát hiện deepfake hoàn chỉnh: từ đầu vào ảnh/video đến kết quả phân loại có giải thích.</a:t>
            </a:r>
          </a:p>
          <a:p>
            <a:r>
              <a:rPr lang="vi-VN" sz="3500" dirty="0">
                <a:latin typeface="+mj-lt"/>
              </a:rPr>
              <a:t>Phân loại 3 nhãn: Original (Thật), FaceSwap (Giả – hoán đổi mặt), Reenactment (Giả – mạo danh chuyển động).</a:t>
            </a:r>
          </a:p>
          <a:p>
            <a:r>
              <a:rPr lang="vi-VN" sz="3500" dirty="0">
                <a:latin typeface="+mj-lt"/>
              </a:rPr>
              <a:t>Đạt Accuracy ≥ 90% và F1-Score cân bằng trên tập test chuẩn.</a:t>
            </a:r>
          </a:p>
          <a:p>
            <a:r>
              <a:rPr lang="vi-VN" sz="3500" dirty="0">
                <a:latin typeface="+mj-lt"/>
              </a:rPr>
              <a:t>Triển khai hệ thống dưới dạng API và giao diện người dùng (Web/App).</a:t>
            </a: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7101"/>
            <a:ext cx="4370705" cy="83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165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2400" y="919205"/>
            <a:ext cx="137922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216" dirty="0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 VÀ TIỀN XỬ LÝ DỮ LIỆU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6800" y="1881475"/>
            <a:ext cx="10515600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FaceForensics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 (FF++) -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vàng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469066"/>
              </p:ext>
            </p:extLst>
          </p:nvPr>
        </p:nvGraphicFramePr>
        <p:xfrm>
          <a:off x="1857622" y="4135035"/>
          <a:ext cx="14753978" cy="5179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63103">
                  <a:extLst>
                    <a:ext uri="{9D8B030D-6E8A-4147-A177-3AD203B41FA5}">
                      <a16:colId xmlns:a16="http://schemas.microsoft.com/office/drawing/2014/main" val="1543627061"/>
                    </a:ext>
                  </a:extLst>
                </a:gridCol>
                <a:gridCol w="2963103">
                  <a:extLst>
                    <a:ext uri="{9D8B030D-6E8A-4147-A177-3AD203B41FA5}">
                      <a16:colId xmlns:a16="http://schemas.microsoft.com/office/drawing/2014/main" val="2467807283"/>
                    </a:ext>
                  </a:extLst>
                </a:gridCol>
                <a:gridCol w="3012014">
                  <a:extLst>
                    <a:ext uri="{9D8B030D-6E8A-4147-A177-3AD203B41FA5}">
                      <a16:colId xmlns:a16="http://schemas.microsoft.com/office/drawing/2014/main" val="1219595603"/>
                    </a:ext>
                  </a:extLst>
                </a:gridCol>
                <a:gridCol w="5815758">
                  <a:extLst>
                    <a:ext uri="{9D8B030D-6E8A-4147-A177-3AD203B41FA5}">
                      <a16:colId xmlns:a16="http://schemas.microsoft.com/office/drawing/2014/main" val="2651986668"/>
                    </a:ext>
                  </a:extLst>
                </a:gridCol>
              </a:tblGrid>
              <a:tr h="511124"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Nhãn phân loại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vi-VN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lượng video</a:t>
                      </a:r>
                      <a:endParaRPr lang="vi-VN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thuật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tạo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015659784"/>
                  </a:ext>
                </a:extLst>
              </a:tr>
              <a:tr h="1384980">
                <a:tc>
                  <a:txBody>
                    <a:bodyPr/>
                    <a:lstStyle/>
                    <a:p>
                      <a:pPr indent="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(FF++)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→ REAL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~1000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Video thật, không chỉnh sửa, quay từ nhiều điều kiện ánh sáng và góc mặt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248385325"/>
                  </a:ext>
                </a:extLst>
              </a:tr>
              <a:tr h="1384980">
                <a:tc>
                  <a:txBody>
                    <a:bodyPr/>
                    <a:lstStyle/>
                    <a:p>
                      <a:pPr indent="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FaceSwap (FS)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FACESWAP → FAKE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~1000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Hoán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khuôn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mặt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bằng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FaceSwap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DeepFaceLab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thay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danh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hoàn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toàn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739702245"/>
                  </a:ext>
                </a:extLst>
              </a:tr>
              <a:tr h="1384980">
                <a:tc>
                  <a:txBody>
                    <a:bodyPr/>
                    <a:lstStyle/>
                    <a:p>
                      <a:pPr indent="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Reenactment (F2F)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REENACTMENT → FAKE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~1000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Truyền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biểu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cảm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bằng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Face2Face,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NeuralTextures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giữ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danh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81245335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03" y="48415"/>
            <a:ext cx="4370705" cy="83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8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4800" y="843171"/>
            <a:ext cx="137922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it-IT" sz="6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ublic Sans Bold" panose="020B0604020202020204" charset="0"/>
                <a:sym typeface="Public Sans Bold"/>
              </a:rPr>
              <a:t>TIỀN XỬ LÝ ( PRE PROCESSING)</a:t>
            </a:r>
            <a:endParaRPr lang="en-US" sz="6000" b="1" spc="216" dirty="0">
              <a:solidFill>
                <a:schemeClr val="tx2">
                  <a:lumMod val="60000"/>
                  <a:lumOff val="40000"/>
                </a:schemeClr>
              </a:solidFill>
              <a:latin typeface="Public Sans Bold" panose="020B060402020202020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5950" y="2171700"/>
            <a:ext cx="16094249" cy="5963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500" kern="0" dirty="0">
                <a:latin typeface="+mj-lt"/>
                <a:ea typeface="SimSun" panose="02010600030101010101" pitchFamily="2" charset="-122"/>
              </a:rPr>
              <a:t>Quy trình tiền xử lý được áp dụng thống nhất cho cả ba bộ dữ liệu gồm 4 bước:</a:t>
            </a:r>
            <a:endParaRPr lang="vi-VN" sz="3500" dirty="0">
              <a:latin typeface="+mj-lt"/>
              <a:ea typeface="SimSun" panose="02010600030101010101" pitchFamily="2" charset="-122"/>
            </a:endParaRPr>
          </a:p>
          <a:p>
            <a:pPr indent="360045">
              <a:lnSpc>
                <a:spcPct val="110000"/>
              </a:lnSpc>
            </a:pPr>
            <a:r>
              <a:rPr lang="vi-VN" sz="3500" kern="0" dirty="0">
                <a:latin typeface="+mj-lt"/>
                <a:ea typeface="SimSun" panose="02010600030101010101" pitchFamily="2" charset="-122"/>
              </a:rPr>
              <a:t>Bước 1 – Rút trích khung hình (Frame Skipping):</a:t>
            </a:r>
            <a:br>
              <a:rPr lang="vi-VN" sz="3500" kern="0" dirty="0">
                <a:latin typeface="+mj-lt"/>
                <a:ea typeface="SimSun" panose="02010600030101010101" pitchFamily="2" charset="-122"/>
              </a:rPr>
            </a:br>
            <a:r>
              <a:rPr lang="vi-VN" sz="3500" kern="0" dirty="0">
                <a:latin typeface="+mj-lt"/>
                <a:ea typeface="SimSun" panose="02010600030101010101" pitchFamily="2" charset="-122"/>
              </a:rPr>
              <a:t>Mỗi video được lấy 15 khung hình phân bố đều theo thời gian</a:t>
            </a:r>
            <a:r>
              <a:rPr lang="en-US" sz="3500" kern="0" dirty="0">
                <a:latin typeface="+mj-lt"/>
                <a:ea typeface="SimSun" panose="02010600030101010101" pitchFamily="2" charset="-122"/>
              </a:rPr>
              <a:t>.</a:t>
            </a:r>
          </a:p>
          <a:p>
            <a:pPr indent="360045">
              <a:lnSpc>
                <a:spcPct val="110000"/>
              </a:lnSpc>
            </a:pPr>
            <a:r>
              <a:rPr lang="vi-VN" sz="3500" dirty="0">
                <a:latin typeface="+mj-lt"/>
              </a:rPr>
              <a:t>Bước 2 – Phát hiện khuôn mặt (RetinaFace):</a:t>
            </a:r>
            <a:br>
              <a:rPr lang="vi-VN" sz="3500" dirty="0">
                <a:latin typeface="+mj-lt"/>
              </a:rPr>
            </a:br>
            <a:r>
              <a:rPr lang="vi-VN" sz="3500" dirty="0">
                <a:latin typeface="+mj-lt"/>
              </a:rPr>
              <a:t>Sử dụng RetinaFace để xác định bounding box khuôn mặt trong mỗi khung hình. Chỉ giữ khuôn mặt có độ tin cậy cao nhất.</a:t>
            </a:r>
          </a:p>
          <a:p>
            <a:pPr indent="360045">
              <a:lnSpc>
                <a:spcPct val="110000"/>
              </a:lnSpc>
            </a:pPr>
            <a:r>
              <a:rPr lang="vi-VN" sz="3500" dirty="0">
                <a:latin typeface="+mj-lt"/>
              </a:rPr>
              <a:t>Bước 3 – Cắt vùng mặt mở rộng (Scale 1.3):</a:t>
            </a:r>
            <a:br>
              <a:rPr lang="vi-VN" sz="3500" dirty="0">
                <a:latin typeface="+mj-lt"/>
              </a:rPr>
            </a:br>
            <a:r>
              <a:rPr lang="vi-VN" sz="3500" dirty="0">
                <a:latin typeface="+mj-lt"/>
              </a:rPr>
              <a:t>Mở rộng vùng cắt theo hệ số 1.3 để giữ lại các vùng ranh giới quan trọng</a:t>
            </a:r>
            <a:r>
              <a:rPr lang="en-US" sz="3500" dirty="0">
                <a:latin typeface="+mj-lt"/>
              </a:rPr>
              <a:t>.</a:t>
            </a:r>
          </a:p>
          <a:p>
            <a:pPr indent="360045">
              <a:lnSpc>
                <a:spcPct val="110000"/>
              </a:lnSpc>
            </a:pPr>
            <a:r>
              <a:rPr lang="vi-VN" sz="3500" dirty="0">
                <a:latin typeface="+mj-lt"/>
              </a:rPr>
              <a:t>Bước 4 – Chuẩn hóa kích thước và dữ liệu:</a:t>
            </a:r>
            <a:br>
              <a:rPr lang="vi-VN" sz="3500" dirty="0">
                <a:latin typeface="+mj-lt"/>
              </a:rPr>
            </a:br>
            <a:r>
              <a:rPr lang="vi-VN" sz="3500" dirty="0">
                <a:latin typeface="+mj-lt"/>
              </a:rPr>
              <a:t>Resize ảnh về kích thước 299×299 và chuẩn hóa</a:t>
            </a:r>
            <a:r>
              <a:rPr lang="en-US" sz="3500" dirty="0">
                <a:latin typeface="+mj-lt"/>
              </a:rPr>
              <a:t>.</a:t>
            </a:r>
            <a:endParaRPr lang="vi-VN" sz="3500" dirty="0">
              <a:latin typeface="+mj-lt"/>
              <a:ea typeface="SimSun" panose="02010600030101010101" pitchFamily="2" charset="-122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01" y="144302"/>
            <a:ext cx="4370705" cy="83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90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539372" y="1731956"/>
            <a:ext cx="137922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216" dirty="0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PHÂN CHIA TẬP DỮ LIỆU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511518"/>
            <a:ext cx="1051560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500" dirty="0">
                <a:latin typeface="+mj-lt"/>
              </a:rPr>
              <a:t>Tỷ lệ phân chia theo chiến lược stratified split để đảm bảo phân phối đều 3 nhãn:</a:t>
            </a:r>
          </a:p>
          <a:p>
            <a:pPr lvl="0"/>
            <a:r>
              <a:rPr lang="vi-VN" sz="3500" dirty="0">
                <a:latin typeface="+mj-lt"/>
              </a:rPr>
              <a:t>Train: 70% → ~31.500 ảnh</a:t>
            </a:r>
          </a:p>
          <a:p>
            <a:pPr lvl="0"/>
            <a:r>
              <a:rPr lang="vi-VN" sz="3500" dirty="0">
                <a:latin typeface="+mj-lt"/>
              </a:rPr>
              <a:t>Validation: 15% → ~6.750 ảnh</a:t>
            </a:r>
          </a:p>
          <a:p>
            <a:pPr lvl="0"/>
            <a:r>
              <a:rPr lang="vi-VN" sz="3500" dirty="0">
                <a:latin typeface="+mj-lt"/>
              </a:rPr>
              <a:t>Test: 15% → ~6.750 ảnh</a:t>
            </a: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3" y="308063"/>
            <a:ext cx="4370705" cy="83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1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1347409"/>
            <a:ext cx="1772840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216" dirty="0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THIẾU LẬP CẤU HÌNH HUẤN LUYỆN DỮ LIỆU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511518"/>
            <a:ext cx="105156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3" y="308063"/>
            <a:ext cx="4370705" cy="83185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491845"/>
              </p:ext>
            </p:extLst>
          </p:nvPr>
        </p:nvGraphicFramePr>
        <p:xfrm>
          <a:off x="567144" y="2903081"/>
          <a:ext cx="17161263" cy="6588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3342">
                  <a:extLst>
                    <a:ext uri="{9D8B030D-6E8A-4147-A177-3AD203B41FA5}">
                      <a16:colId xmlns:a16="http://schemas.microsoft.com/office/drawing/2014/main" val="3219833825"/>
                    </a:ext>
                  </a:extLst>
                </a:gridCol>
                <a:gridCol w="11737921">
                  <a:extLst>
                    <a:ext uri="{9D8B030D-6E8A-4147-A177-3AD203B41FA5}">
                      <a16:colId xmlns:a16="http://schemas.microsoft.com/office/drawing/2014/main" val="4208358251"/>
                    </a:ext>
                  </a:extLst>
                </a:gridCol>
              </a:tblGrid>
              <a:tr h="376270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Hyperparameter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 Trị &amp; Ghi Chú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612920315"/>
                  </a:ext>
                </a:extLst>
              </a:tr>
              <a:tr h="376270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fr-FR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Colab (GPU Tesla T4 / V100)</a:t>
                      </a:r>
                      <a:endParaRPr lang="fr-FR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550614301"/>
                  </a:ext>
                </a:extLst>
              </a:tr>
              <a:tr h="376270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2.0 +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timm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0.9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488596874"/>
                  </a:ext>
                </a:extLst>
              </a:tr>
              <a:tr h="376270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Optimizer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AdamW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=3e-4,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weight_decay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=1e-4)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784294794"/>
                  </a:ext>
                </a:extLst>
              </a:tr>
              <a:tr h="376270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 Strategy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1: Freeze backbone 10 epochs (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=1e-3 head only)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19099103"/>
                  </a:ext>
                </a:extLst>
              </a:tr>
              <a:tr h="376270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2: Unfreeze all,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=3e-5,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CosineAnnealingLR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711032206"/>
                  </a:ext>
                </a:extLst>
              </a:tr>
              <a:tr h="645046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Epochs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(10 frozen + 40 fine-tune), early stopping patience=7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106947653"/>
                  </a:ext>
                </a:extLst>
              </a:tr>
              <a:tr h="376270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Size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(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phù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~12GB VRAM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Colab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178790732"/>
                  </a:ext>
                </a:extLst>
              </a:tr>
              <a:tr h="376270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Mixed Precision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torch.cuda.amp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(FP16) —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tốc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~2x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553553969"/>
                  </a:ext>
                </a:extLst>
              </a:tr>
              <a:tr h="376270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Checkpoint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vi-VN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 best model theo val_AUC (metric chính)</a:t>
                      </a:r>
                      <a:endParaRPr lang="vi-VN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78454271"/>
                  </a:ext>
                </a:extLst>
              </a:tr>
              <a:tr h="376270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Loading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Drive mount →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Colab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/content/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1695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37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1347409"/>
            <a:ext cx="1772840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216" dirty="0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THỰC NGHIỆM VÀ KẾT QUẢ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511518"/>
            <a:ext cx="105156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3" y="308063"/>
            <a:ext cx="4370705" cy="83185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685178"/>
              </p:ext>
            </p:extLst>
          </p:nvPr>
        </p:nvGraphicFramePr>
        <p:xfrm>
          <a:off x="1706244" y="3034885"/>
          <a:ext cx="10942955" cy="52885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7239">
                  <a:extLst>
                    <a:ext uri="{9D8B030D-6E8A-4147-A177-3AD203B41FA5}">
                      <a16:colId xmlns:a16="http://schemas.microsoft.com/office/drawing/2014/main" val="1067113491"/>
                    </a:ext>
                  </a:extLst>
                </a:gridCol>
                <a:gridCol w="2068323">
                  <a:extLst>
                    <a:ext uri="{9D8B030D-6E8A-4147-A177-3AD203B41FA5}">
                      <a16:colId xmlns:a16="http://schemas.microsoft.com/office/drawing/2014/main" val="2222162983"/>
                    </a:ext>
                  </a:extLst>
                </a:gridCol>
                <a:gridCol w="2068323">
                  <a:extLst>
                    <a:ext uri="{9D8B030D-6E8A-4147-A177-3AD203B41FA5}">
                      <a16:colId xmlns:a16="http://schemas.microsoft.com/office/drawing/2014/main" val="754983224"/>
                    </a:ext>
                  </a:extLst>
                </a:gridCol>
                <a:gridCol w="2069535">
                  <a:extLst>
                    <a:ext uri="{9D8B030D-6E8A-4147-A177-3AD203B41FA5}">
                      <a16:colId xmlns:a16="http://schemas.microsoft.com/office/drawing/2014/main" val="2500226132"/>
                    </a:ext>
                  </a:extLst>
                </a:gridCol>
                <a:gridCol w="2069535">
                  <a:extLst>
                    <a:ext uri="{9D8B030D-6E8A-4147-A177-3AD203B41FA5}">
                      <a16:colId xmlns:a16="http://schemas.microsoft.com/office/drawing/2014/main" val="3465020925"/>
                    </a:ext>
                  </a:extLst>
                </a:gridCol>
              </a:tblGrid>
              <a:tr h="597301"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74733434"/>
                  </a:ext>
                </a:extLst>
              </a:tr>
              <a:tr h="1011771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(EfficientNet-B0)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~85%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~84%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~84%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~84%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221376048"/>
                  </a:ext>
                </a:extLst>
              </a:tr>
              <a:tr h="1011771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Xception (ImageNet fine-tune)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~92%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~92%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~92%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~92%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98273583"/>
                  </a:ext>
                </a:extLst>
              </a:tr>
              <a:tr h="1011771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fr-FR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Xception + Scale 1.3 + Aug (Của nhóm)</a:t>
                      </a:r>
                      <a:endParaRPr lang="fr-FR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99.86%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99.85%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99.86%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99.85%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10145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612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1347409"/>
            <a:ext cx="1772840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216" dirty="0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THỰC NGHIỆM VÀ KẾT QUẢ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511518"/>
            <a:ext cx="105156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3" y="308063"/>
            <a:ext cx="4370705" cy="83185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377594"/>
              </p:ext>
            </p:extLst>
          </p:nvPr>
        </p:nvGraphicFramePr>
        <p:xfrm>
          <a:off x="1603057" y="2839053"/>
          <a:ext cx="12570142" cy="47126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2512">
                  <a:extLst>
                    <a:ext uri="{9D8B030D-6E8A-4147-A177-3AD203B41FA5}">
                      <a16:colId xmlns:a16="http://schemas.microsoft.com/office/drawing/2014/main" val="210988948"/>
                    </a:ext>
                  </a:extLst>
                </a:gridCol>
                <a:gridCol w="3134806">
                  <a:extLst>
                    <a:ext uri="{9D8B030D-6E8A-4147-A177-3AD203B41FA5}">
                      <a16:colId xmlns:a16="http://schemas.microsoft.com/office/drawing/2014/main" val="3977327816"/>
                    </a:ext>
                  </a:extLst>
                </a:gridCol>
                <a:gridCol w="2390088">
                  <a:extLst>
                    <a:ext uri="{9D8B030D-6E8A-4147-A177-3AD203B41FA5}">
                      <a16:colId xmlns:a16="http://schemas.microsoft.com/office/drawing/2014/main" val="2527574860"/>
                    </a:ext>
                  </a:extLst>
                </a:gridCol>
                <a:gridCol w="1906156">
                  <a:extLst>
                    <a:ext uri="{9D8B030D-6E8A-4147-A177-3AD203B41FA5}">
                      <a16:colId xmlns:a16="http://schemas.microsoft.com/office/drawing/2014/main" val="1407009307"/>
                    </a:ext>
                  </a:extLst>
                </a:gridCol>
                <a:gridCol w="2286580">
                  <a:extLst>
                    <a:ext uri="{9D8B030D-6E8A-4147-A177-3AD203B41FA5}">
                      <a16:colId xmlns:a16="http://schemas.microsoft.com/office/drawing/2014/main" val="1494754826"/>
                    </a:ext>
                  </a:extLst>
                </a:gridCol>
              </a:tblGrid>
              <a:tr h="608638"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Nhãn</a:t>
                      </a: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(Class)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586042748"/>
                  </a:ext>
                </a:extLst>
              </a:tr>
              <a:tr h="608638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/ Original (0)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1.0000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0.9990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0.9995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3006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733199395"/>
                  </a:ext>
                </a:extLst>
              </a:tr>
              <a:tr h="608638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FaceSwap (1)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0.9959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1.0000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0.9979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2913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467764041"/>
                  </a:ext>
                </a:extLst>
              </a:tr>
              <a:tr h="608638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Reenactment (2)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0.9997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0.9967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0.9982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3048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870016565"/>
                  </a:ext>
                </a:extLst>
              </a:tr>
              <a:tr h="608638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Avg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0.9985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0.9986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0.9985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8967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831220408"/>
                  </a:ext>
                </a:extLst>
              </a:tr>
              <a:tr h="608638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Avg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0.9986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0.9986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0.9986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8967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75395269"/>
                  </a:ext>
                </a:extLst>
              </a:tr>
              <a:tr h="608638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36004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0.9986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8967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823598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307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1347409"/>
            <a:ext cx="1772840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216" dirty="0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THỰC NGHIỆM VÀ KẾT QUẢ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511518"/>
            <a:ext cx="105156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3" y="308063"/>
            <a:ext cx="4370705" cy="8318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66800" y="2512806"/>
            <a:ext cx="12712134" cy="803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0" algn="just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</a:pPr>
            <a:r>
              <a:rPr lang="en-US" sz="3500" kern="0" dirty="0">
                <a:latin typeface="Times New Roman" panose="02020603050405020304" pitchFamily="18" charset="0"/>
                <a:ea typeface="SimSun" panose="02010600030101010101" pitchFamily="2" charset="-122"/>
              </a:rPr>
              <a:t>Ma </a:t>
            </a:r>
            <a:r>
              <a:rPr lang="en-US" sz="3500" kern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trận</a:t>
            </a:r>
            <a:r>
              <a:rPr lang="en-US" sz="3500" kern="0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3500" kern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nhầm</a:t>
            </a:r>
            <a:r>
              <a:rPr lang="en-US" sz="3500" kern="0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3500" kern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lẫn</a:t>
            </a:r>
            <a:r>
              <a:rPr lang="en-US" sz="3500" kern="0" dirty="0">
                <a:latin typeface="Times New Roman" panose="02020603050405020304" pitchFamily="18" charset="0"/>
                <a:ea typeface="SimSun" panose="02010600030101010101" pitchFamily="2" charset="-122"/>
              </a:rPr>
              <a:t> (Confusion Matrix) — </a:t>
            </a:r>
            <a:r>
              <a:rPr lang="en-US" sz="3500" kern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tổng</a:t>
            </a:r>
            <a:r>
              <a:rPr lang="en-US" sz="3500" kern="0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3500" kern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số</a:t>
            </a:r>
            <a:r>
              <a:rPr lang="en-US" sz="3500" kern="0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3500" kern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mẫu</a:t>
            </a:r>
            <a:r>
              <a:rPr lang="en-US" sz="3500" kern="0" dirty="0">
                <a:latin typeface="Times New Roman" panose="02020603050405020304" pitchFamily="18" charset="0"/>
                <a:ea typeface="SimSun" panose="02010600030101010101" pitchFamily="2" charset="-122"/>
              </a:rPr>
              <a:t> test: 8.967 </a:t>
            </a:r>
            <a:r>
              <a:rPr lang="en-US" sz="3500" kern="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ảnh</a:t>
            </a:r>
            <a:r>
              <a:rPr lang="en-US" sz="3500" kern="0" dirty="0">
                <a:latin typeface="Times New Roman" panose="02020603050405020304" pitchFamily="18" charset="0"/>
                <a:ea typeface="SimSun" panose="02010600030101010101" pitchFamily="2" charset="-122"/>
              </a:rPr>
              <a:t>:</a:t>
            </a:r>
            <a:endParaRPr lang="en-US" sz="35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57015"/>
              </p:ext>
            </p:extLst>
          </p:nvPr>
        </p:nvGraphicFramePr>
        <p:xfrm>
          <a:off x="1676400" y="4337588"/>
          <a:ext cx="12268200" cy="4604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107">
                  <a:extLst>
                    <a:ext uri="{9D8B030D-6E8A-4147-A177-3AD203B41FA5}">
                      <a16:colId xmlns:a16="http://schemas.microsoft.com/office/drawing/2014/main" val="3230575259"/>
                    </a:ext>
                  </a:extLst>
                </a:gridCol>
                <a:gridCol w="2380493">
                  <a:extLst>
                    <a:ext uri="{9D8B030D-6E8A-4147-A177-3AD203B41FA5}">
                      <a16:colId xmlns:a16="http://schemas.microsoft.com/office/drawing/2014/main" val="1327378175"/>
                    </a:ext>
                  </a:extLst>
                </a:gridCol>
                <a:gridCol w="3114544">
                  <a:extLst>
                    <a:ext uri="{9D8B030D-6E8A-4147-A177-3AD203B41FA5}">
                      <a16:colId xmlns:a16="http://schemas.microsoft.com/office/drawing/2014/main" val="1543268687"/>
                    </a:ext>
                  </a:extLst>
                </a:gridCol>
                <a:gridCol w="3298056">
                  <a:extLst>
                    <a:ext uri="{9D8B030D-6E8A-4147-A177-3AD203B41FA5}">
                      <a16:colId xmlns:a16="http://schemas.microsoft.com/office/drawing/2014/main" val="243644466"/>
                    </a:ext>
                  </a:extLst>
                </a:gridCol>
              </a:tblGrid>
              <a:tr h="809741">
                <a:tc>
                  <a:txBody>
                    <a:bodyPr/>
                    <a:lstStyle/>
                    <a:p>
                      <a:pPr indent="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3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5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r>
                        <a:rPr lang="en-US" sz="3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\ </a:t>
                      </a:r>
                      <a:r>
                        <a:rPr lang="en-US" sz="35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3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5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đoán</a:t>
                      </a:r>
                      <a:endParaRPr lang="en-US" sz="35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Pred: Real (0)</a:t>
                      </a:r>
                      <a:endParaRPr lang="en-US" sz="35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Pred: FaceSwap (1)</a:t>
                      </a:r>
                      <a:endParaRPr lang="en-US" sz="35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Pred: Reenactment (2)</a:t>
                      </a:r>
                      <a:endParaRPr lang="en-US" sz="35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629179747"/>
                  </a:ext>
                </a:extLst>
              </a:tr>
              <a:tr h="809741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True: Real (0)</a:t>
                      </a:r>
                      <a:endParaRPr lang="en-US" sz="35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3.003</a:t>
                      </a:r>
                      <a:endParaRPr lang="en-US" sz="35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35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5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470343864"/>
                  </a:ext>
                </a:extLst>
              </a:tr>
              <a:tr h="809741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True: FaceSwap (1)</a:t>
                      </a:r>
                      <a:endParaRPr lang="en-US" sz="35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5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2.913</a:t>
                      </a:r>
                      <a:endParaRPr lang="en-US" sz="35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5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178366572"/>
                  </a:ext>
                </a:extLst>
              </a:tr>
              <a:tr h="967489">
                <a:tc>
                  <a:txBody>
                    <a:bodyPr/>
                    <a:lstStyle/>
                    <a:p>
                      <a:pPr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True: Reenactment (2)</a:t>
                      </a:r>
                      <a:endParaRPr lang="en-US" sz="35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5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35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3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3.038</a:t>
                      </a:r>
                      <a:endParaRPr lang="en-US" sz="35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247313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933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1347409"/>
            <a:ext cx="1772840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216" dirty="0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BIỂU ĐỒ HUẤN LUYỆN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511518"/>
            <a:ext cx="105156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3" y="308063"/>
            <a:ext cx="4370705" cy="8318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rcRect r="49839"/>
          <a:stretch>
            <a:fillRect/>
          </a:stretch>
        </p:blipFill>
        <p:spPr>
          <a:xfrm>
            <a:off x="-53692" y="3067216"/>
            <a:ext cx="9072029" cy="6459336"/>
          </a:xfrm>
          <a:prstGeom prst="rect">
            <a:avLst/>
          </a:prstGeom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49999" r="-160"/>
          <a:stretch>
            <a:fillRect/>
          </a:stretch>
        </p:blipFill>
        <p:spPr>
          <a:xfrm>
            <a:off x="9067800" y="3067216"/>
            <a:ext cx="9052456" cy="64444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9536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3754" y="8555424"/>
            <a:ext cx="2657711" cy="109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5" u="none" strike="noStrike" spc="28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3" name="AutoShape 3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-542784" y="82303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1347409"/>
            <a:ext cx="1772840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216" dirty="0">
                <a:solidFill>
                  <a:srgbClr val="006BB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ƯU ĐIỂM VÀ HẠN CHẾ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511518"/>
            <a:ext cx="105156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3" y="308063"/>
            <a:ext cx="4370705" cy="831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54273" y="2681910"/>
            <a:ext cx="17068800" cy="6752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</a:pPr>
            <a:r>
              <a:rPr lang="vi-VN" sz="3500" b="1" kern="0" dirty="0">
                <a:latin typeface="+mj-lt"/>
                <a:ea typeface="SimSun" panose="02010600030101010101" pitchFamily="2" charset="-122"/>
              </a:rPr>
              <a:t>Ưu điểm:</a:t>
            </a:r>
            <a:endParaRPr lang="vi-VN" sz="3500" dirty="0">
              <a:latin typeface="+mj-lt"/>
              <a:ea typeface="SimSun" panose="02010600030101010101" pitchFamily="2" charset="-122"/>
            </a:endParaRPr>
          </a:p>
          <a:p>
            <a:pPr marL="342900" lvl="0" indent="-342900">
              <a:lnSpc>
                <a:spcPct val="141000"/>
              </a:lnSpc>
              <a:spcBef>
                <a:spcPts val="200"/>
              </a:spcBef>
              <a:spcAft>
                <a:spcPts val="300"/>
              </a:spcAft>
              <a:buFont typeface="Times New Roman" panose="02020603050405020304" pitchFamily="18" charset="0"/>
              <a:buChar char="–"/>
            </a:pPr>
            <a:r>
              <a:rPr lang="vi-VN" sz="35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Pipeline end-to-end hoàn chỉnh từ video thô đến kết quả có giải thích.</a:t>
            </a:r>
            <a:endParaRPr lang="vi-VN" sz="3500" kern="100" dirty="0">
              <a:latin typeface="+mj-lt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1000"/>
              </a:lnSpc>
              <a:spcBef>
                <a:spcPts val="200"/>
              </a:spcBef>
              <a:spcAft>
                <a:spcPts val="300"/>
              </a:spcAft>
              <a:buFont typeface="Times New Roman" panose="02020603050405020304" pitchFamily="18" charset="0"/>
              <a:buChar char="–"/>
            </a:pPr>
            <a:r>
              <a:rPr lang="vi-VN" sz="35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Scale 1.3 là đóng góp kỹ thuật quan trọng giúp cải thiện ~1.5% Accuracy so với scale 1.0.</a:t>
            </a:r>
            <a:endParaRPr lang="vi-VN" sz="3500" kern="100" dirty="0">
              <a:latin typeface="+mj-lt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1000"/>
              </a:lnSpc>
              <a:spcBef>
                <a:spcPts val="200"/>
              </a:spcBef>
              <a:spcAft>
                <a:spcPts val="300"/>
              </a:spcAft>
              <a:buFont typeface="Times New Roman" panose="02020603050405020304" pitchFamily="18" charset="0"/>
              <a:buChar char="–"/>
            </a:pPr>
            <a:r>
              <a:rPr lang="vi-VN" sz="35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Grad-CAM heatmap tăng tính tin cậy và giải thích được của hệ thống.</a:t>
            </a:r>
            <a:endParaRPr lang="vi-VN" sz="3500" kern="100" dirty="0">
              <a:latin typeface="+mj-lt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</a:pPr>
            <a:r>
              <a:rPr lang="vi-VN" sz="3500" b="1" kern="0" dirty="0">
                <a:latin typeface="+mj-lt"/>
                <a:ea typeface="SimSun" panose="02010600030101010101" pitchFamily="2" charset="-122"/>
              </a:rPr>
              <a:t>Hạn chế:</a:t>
            </a:r>
            <a:endParaRPr lang="vi-VN" sz="3500" dirty="0">
              <a:latin typeface="+mj-lt"/>
              <a:ea typeface="SimSun" panose="02010600030101010101" pitchFamily="2" charset="-122"/>
            </a:endParaRPr>
          </a:p>
          <a:p>
            <a:pPr marL="342900" lvl="0" indent="-342900">
              <a:lnSpc>
                <a:spcPct val="141000"/>
              </a:lnSpc>
              <a:spcBef>
                <a:spcPts val="200"/>
              </a:spcBef>
              <a:spcAft>
                <a:spcPts val="300"/>
              </a:spcAft>
              <a:buFont typeface="Times New Roman" panose="02020603050405020304" pitchFamily="18" charset="0"/>
              <a:buChar char="-"/>
            </a:pPr>
            <a:r>
              <a:rPr lang="vi-VN" sz="35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Chưa tối ưu cho real-time trên thiết bị di động (latency ~200ms/frame).</a:t>
            </a:r>
            <a:endParaRPr lang="vi-VN" sz="3500" kern="100" dirty="0">
              <a:latin typeface="+mj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1000"/>
              </a:lnSpc>
              <a:spcBef>
                <a:spcPts val="200"/>
              </a:spcBef>
              <a:spcAft>
                <a:spcPts val="300"/>
              </a:spcAft>
              <a:buFont typeface="Times New Roman" panose="02020603050405020304" pitchFamily="18" charset="0"/>
              <a:buChar char="-"/>
            </a:pPr>
            <a:r>
              <a:rPr lang="vi-VN" sz="35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Hiệu suất giảm đáng kể với deepfake từ các kỹ thuật tạo chưa có trong training set.</a:t>
            </a:r>
            <a:endParaRPr lang="vi-VN" sz="3500" kern="100" dirty="0">
              <a:latin typeface="+mj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1000"/>
              </a:lnSpc>
              <a:spcBef>
                <a:spcPts val="200"/>
              </a:spcBef>
              <a:spcAft>
                <a:spcPts val="300"/>
              </a:spcAft>
              <a:buFont typeface="Times New Roman" panose="02020603050405020304" pitchFamily="18" charset="0"/>
              <a:buChar char="-"/>
            </a:pPr>
            <a:r>
              <a:rPr lang="vi-VN" sz="35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Chưa xử lý được các deepfake audio (voice cloning) kết hợp.</a:t>
            </a:r>
            <a:endParaRPr lang="vi-VN" sz="3500" kern="100" dirty="0">
              <a:effectLst/>
              <a:latin typeface="+mj-lt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76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300"/>
            <a:ext cx="18272352" cy="956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4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1242</Words>
  <Application>Microsoft Office PowerPoint</Application>
  <PresentationFormat>Custom</PresentationFormat>
  <Paragraphs>162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Open Sans 1</vt:lpstr>
      <vt:lpstr>Arial</vt:lpstr>
      <vt:lpstr>Canva Sans</vt:lpstr>
      <vt:lpstr>Calibri</vt:lpstr>
      <vt:lpstr>Public Sans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Chủ đề 6_Nhóm6</dc:title>
  <dc:creator>Admin</dc:creator>
  <cp:lastModifiedBy>ADMIN</cp:lastModifiedBy>
  <cp:revision>9</cp:revision>
  <dcterms:created xsi:type="dcterms:W3CDTF">2006-08-16T00:00:00Z</dcterms:created>
  <dcterms:modified xsi:type="dcterms:W3CDTF">2026-06-20T02:57:31Z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5F3FDCD17F324540ADF0877B599C8A76_12</vt:lpwstr>
  </property>
  <property fmtid="{D5CDD505-2E9C-101B-9397-08002B2CF9AE}" pid="3" name="KSOProductBuildVer">
    <vt:lpwstr>1033-12.1.0.25862</vt:lpwstr>
  </property>
</Properties>
</file>